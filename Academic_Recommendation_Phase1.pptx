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4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5FA3F-7974-4A21-A63E-4453F75FC1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05E2C-4D16-4FAB-A84C-F1C1BAF99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32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05E2C-4D16-4FAB-A84C-F1C1BAF9925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812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7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302" y="855609"/>
            <a:ext cx="8705396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Student Academic Recommendation</a:t>
            </a:r>
            <a:endParaRPr lang="en-IN" dirty="0"/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Phase 1 Review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3253" y="3840480"/>
            <a:ext cx="465749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VAISHNAVI B | Roll No: 7376231EC311</a:t>
            </a:r>
          </a:p>
          <a:p>
            <a:r>
              <a:rPr lang="en-IN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Department: ECE | Domain: Web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75E"/>
          </a:solidFill>
          <a:ln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The Student Academic Recommendation System is a web-based application designed to analyze student academic performance and learning patterns. It provides personalized academic recommendations to help students improve their academic performance and make better educational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3749039" cy="91440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880360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75E"/>
                </a:solidFill>
              </a:defRPr>
            </a:pPr>
            <a:r>
              <a:t>📊 Performance Analysis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Comprehensive analysis of academic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743200"/>
            <a:ext cx="3749039" cy="91440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2880360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75E"/>
                </a:solidFill>
              </a:defRPr>
            </a:pPr>
            <a:r>
              <a:t>🎯 Personalized Recommendations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Subject-wise improvement suggestions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3749039" cy="91440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3977640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75E"/>
                </a:solidFill>
              </a:defRPr>
            </a:pPr>
            <a:r>
              <a:t>📈 Progress Tracking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Real-time monitoring of student progress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3840480"/>
            <a:ext cx="3749039" cy="91440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3977640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75E"/>
                </a:solidFill>
              </a:defRPr>
            </a:pPr>
            <a:r>
              <a:t>👥 Multi-user Support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Separate dashboards for students and admins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75E"/>
          </a:solidFill>
          <a:ln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E293B"/>
                </a:solidFill>
              </a:defRPr>
            </a:pPr>
            <a:r>
              <a:t>Current academic systems face several challenges that hinder student success: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Students lack proper guidance to identify weak subjects and areas needing improvement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60604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06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Academic data is collected but not effectively analyzed to provide actionable insights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Manual monitoring of student progress is time-consuming and difficult for administrators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79476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94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No automated system exists to provide personalized recommendations based on performance patterns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38912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Students make academic decisions without data-driven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75E"/>
          </a:solidFill>
          <a:ln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7315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2801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C275E"/>
                </a:solidFill>
              </a:rPr>
              <a:t>Analyze Performance: </a:t>
            </a:r>
            <a:r>
              <a:rPr sz="1300">
                <a:solidFill>
                  <a:srgbClr val="1E293B"/>
                </a:solidFill>
              </a:rPr>
              <a:t>Comprehensively analyze student academic performance across all subjects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92024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0116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C275E"/>
                </a:solidFill>
              </a:rPr>
              <a:t>Identify Patterns: </a:t>
            </a:r>
            <a:r>
              <a:rPr sz="1300">
                <a:solidFill>
                  <a:srgbClr val="1E293B"/>
                </a:solidFill>
              </a:rPr>
              <a:t>Identify strengths, weak areas, and learning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651760"/>
            <a:ext cx="7315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265176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2743200"/>
            <a:ext cx="673184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C275E"/>
                </a:solidFill>
              </a:rPr>
              <a:t>Generate Recommendations: </a:t>
            </a:r>
            <a:r>
              <a:rPr sz="1300" dirty="0">
                <a:solidFill>
                  <a:srgbClr val="1E293B"/>
                </a:solidFill>
              </a:rPr>
              <a:t>Provide subject-wise improvement recommendations and study</a:t>
            </a:r>
            <a:endParaRPr lang="en-IN" sz="1300" dirty="0">
              <a:solidFill>
                <a:srgbClr val="1E293B"/>
              </a:solidFill>
            </a:endParaRPr>
          </a:p>
          <a:p>
            <a:r>
              <a:rPr lang="en-IN" sz="1300" dirty="0">
                <a:solidFill>
                  <a:srgbClr val="1E293B"/>
                </a:solidFill>
              </a:rPr>
              <a:t>                                                        </a:t>
            </a:r>
            <a:r>
              <a:rPr sz="1300" dirty="0">
                <a:solidFill>
                  <a:srgbClr val="1E293B"/>
                </a:solidFill>
              </a:rPr>
              <a:t> strategies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338328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4747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C275E"/>
                </a:solidFill>
              </a:rPr>
              <a:t>Monitor Progress: </a:t>
            </a:r>
            <a:r>
              <a:rPr sz="1300">
                <a:solidFill>
                  <a:srgbClr val="1E293B"/>
                </a:solidFill>
              </a:rPr>
              <a:t>Assist administrators in monitoring student progress and intervention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411480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C275E"/>
                </a:solidFill>
              </a:rPr>
              <a:t>Improve Outcomes: </a:t>
            </a:r>
            <a:r>
              <a:rPr sz="1300">
                <a:solidFill>
                  <a:srgbClr val="1E293B"/>
                </a:solidFill>
              </a:rPr>
              <a:t>Ultimately improve academic outcomes and student success rates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75E"/>
          </a:solidFill>
          <a:ln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 &amp;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097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HTML5, CSS3, JavaScript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1E293B"/>
                </a:solidFill>
              </a:defRPr>
            </a:pPr>
            <a:r>
              <a:t>Universal browser compatibility, responsive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37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Django (Python)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1E293B"/>
                </a:solidFill>
              </a:defRPr>
            </a:pPr>
            <a:r>
              <a:t>Rapid development, built-in admin, robust ORM, excellent for data-driven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774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3774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1E293B"/>
                </a:solidFill>
              </a:defRPr>
            </a:pPr>
            <a:r>
              <a:t>ACID compliance, reliability, excellent for structured academic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175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Django REST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1E293B"/>
                </a:solidFill>
              </a:defRPr>
            </a:pPr>
            <a:r>
              <a:t>Easy API development, authentication support, browsable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r>
              <a:t>Version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657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1E293B"/>
                </a:solidFill>
              </a:defRPr>
            </a:pPr>
            <a:r>
              <a:t>Collaboration, CI/CD integration, issue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75E"/>
          </a:solidFill>
          <a:ln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914400"/>
            <a:ext cx="2286000" cy="548640"/>
          </a:xfrm>
          <a:prstGeom prst="rect">
            <a:avLst/>
          </a:prstGeom>
          <a:solidFill>
            <a:srgbClr val="CADCFC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275E"/>
                </a:solidFill>
              </a:defRPr>
            </a:pPr>
            <a:r>
              <a:rPr dirty="0"/>
              <a:t>Web Browser</a:t>
            </a:r>
          </a:p>
          <a:p>
            <a:r>
              <a:rPr lang="en-IN" dirty="0"/>
              <a:t>      </a:t>
            </a:r>
            <a:r>
              <a:rPr dirty="0">
                <a:solidFill>
                  <a:schemeClr val="tx1"/>
                </a:solidFill>
              </a:rPr>
              <a:t>(User Interface)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1463040"/>
            <a:ext cx="0" cy="36576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371600" y="1828800"/>
            <a:ext cx="2286000" cy="548640"/>
          </a:xfrm>
          <a:prstGeom prst="rect">
            <a:avLst/>
          </a:prstGeom>
          <a:solidFill>
            <a:srgbClr val="F0FDFA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275E"/>
                </a:solidFill>
              </a:defRPr>
            </a:pPr>
            <a:r>
              <a:rPr dirty="0"/>
              <a:t>Frontend Layer</a:t>
            </a:r>
          </a:p>
          <a:p>
            <a:r>
              <a:rPr lang="en-IN" dirty="0">
                <a:solidFill>
                  <a:schemeClr val="tx1"/>
                </a:solidFill>
              </a:rPr>
              <a:t>       </a:t>
            </a:r>
            <a:r>
              <a:rPr dirty="0">
                <a:solidFill>
                  <a:schemeClr val="tx1"/>
                </a:solidFill>
              </a:rPr>
              <a:t>(HTML/CSS/JS)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2377440"/>
            <a:ext cx="0" cy="36576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2743200"/>
            <a:ext cx="4114800" cy="731520"/>
          </a:xfrm>
          <a:prstGeom prst="rect">
            <a:avLst/>
          </a:prstGeom>
          <a:solidFill>
            <a:srgbClr val="1C275E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Django Backend</a:t>
            </a:r>
          </a:p>
          <a:p>
            <a:r>
              <a:rPr lang="en-IN" dirty="0"/>
              <a:t>                </a:t>
            </a:r>
            <a:r>
              <a:rPr dirty="0"/>
              <a:t>(REST API, Business Logic)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828800" y="3474720"/>
            <a:ext cx="685800" cy="54864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14600" y="3474720"/>
            <a:ext cx="2057400" cy="54864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57200" y="4023360"/>
            <a:ext cx="1828800" cy="640080"/>
          </a:xfrm>
          <a:prstGeom prst="rect">
            <a:avLst/>
          </a:prstGeom>
          <a:solidFill>
            <a:srgbClr val="D1FAE5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275E"/>
                </a:solidFill>
              </a:defRPr>
            </a:pPr>
            <a:r>
              <a:rPr dirty="0"/>
              <a:t>Recommendation</a:t>
            </a:r>
          </a:p>
          <a:p>
            <a:r>
              <a:rPr lang="en-IN" dirty="0">
                <a:solidFill>
                  <a:schemeClr val="tx1"/>
                </a:solidFill>
              </a:rPr>
              <a:t>           </a:t>
            </a:r>
            <a:r>
              <a:rPr dirty="0">
                <a:solidFill>
                  <a:schemeClr val="tx1"/>
                </a:solidFill>
              </a:rPr>
              <a:t>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4023360"/>
            <a:ext cx="1828800" cy="640080"/>
          </a:xfrm>
          <a:prstGeom prst="rect">
            <a:avLst/>
          </a:prstGeom>
          <a:solidFill>
            <a:srgbClr val="FEF9C3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275E"/>
                </a:solidFill>
              </a:defRPr>
            </a:pPr>
            <a:r>
              <a:rPr dirty="0"/>
              <a:t>MySQL</a:t>
            </a:r>
          </a:p>
          <a:p>
            <a:r>
              <a:rPr lang="en-IN" dirty="0">
                <a:solidFill>
                  <a:schemeClr val="tx1"/>
                </a:solidFill>
              </a:rPr>
              <a:t>       </a:t>
            </a:r>
            <a:r>
              <a:rPr dirty="0">
                <a:solidFill>
                  <a:schemeClr val="tx1"/>
                </a:solidFill>
              </a:rPr>
              <a:t>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914400"/>
            <a:ext cx="2286000" cy="548640"/>
          </a:xfrm>
          <a:prstGeom prst="rect">
            <a:avLst/>
          </a:prstGeom>
          <a:solidFill>
            <a:srgbClr val="CADCFC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275E"/>
                </a:solidFill>
              </a:defRPr>
            </a:pPr>
            <a:r>
              <a:t>Admin Dashboard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1463040"/>
            <a:ext cx="0" cy="36576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43600" y="1828800"/>
            <a:ext cx="2286000" cy="548640"/>
          </a:xfrm>
          <a:prstGeom prst="rect">
            <a:avLst/>
          </a:prstGeom>
          <a:solidFill>
            <a:srgbClr val="F0FDFA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275E"/>
                </a:solidFill>
              </a:defRPr>
            </a:pPr>
            <a:r>
              <a:rPr dirty="0"/>
              <a:t>Django Admin</a:t>
            </a:r>
          </a:p>
          <a:p>
            <a:r>
              <a:rPr lang="en-IN" dirty="0">
                <a:solidFill>
                  <a:schemeClr val="tx1"/>
                </a:solidFill>
              </a:rPr>
              <a:t>               </a:t>
            </a:r>
            <a:r>
              <a:rPr dirty="0">
                <a:solidFill>
                  <a:schemeClr val="tx1"/>
                </a:solidFill>
              </a:rPr>
              <a:t>Panel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572000" y="2377440"/>
            <a:ext cx="2514600" cy="73152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40480" y="11887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D9488"/>
                </a:solidFill>
              </a:defRPr>
            </a:pPr>
            <a:r>
              <a:t>HTTP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1031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D9488"/>
                </a:solidFill>
              </a:defRPr>
            </a:pPr>
            <a:r>
              <a:t>API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059668"/>
            <a:ext cx="818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0D9488"/>
                </a:solidFill>
              </a:defRPr>
            </a:pPr>
            <a:r>
              <a:rPr dirty="0"/>
              <a:t>Data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75E"/>
          </a:solidFill>
          <a:ln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3749039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234439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34439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r>
              <a:t>User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Secure login/logout, role-based access control (Student/Admin)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97280"/>
            <a:ext cx="3749039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92040" y="1234439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234439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60020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r>
              <a:t>Student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87451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View performance, recommendations, progress tracking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77440"/>
            <a:ext cx="3749039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251460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51460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8803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r>
              <a:t>Admin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Monitor all students, manage data, generate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377440"/>
            <a:ext cx="3749039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892040" y="251460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251460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8803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r>
              <a:t>Academic Data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154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Store and manage marks, attendance, subject information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57600"/>
            <a:ext cx="3749039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77240" y="379476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379476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1605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r>
              <a:t>Recommendation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39" y="436310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rPr dirty="0"/>
              <a:t>Analyze performance patterns, generate personalized suggestions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3657600"/>
            <a:ext cx="3749039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92040" y="379476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92040" y="379476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1605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r>
              <a:t>Progress Monitoring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434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Track improvement over time, visual analytics and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75E"/>
          </a:solidFill>
          <a:ln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Database ER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645920" cy="1426778"/>
          </a:xfrm>
          <a:prstGeom prst="rect">
            <a:avLst/>
          </a:prstGeom>
          <a:solidFill>
            <a:srgbClr val="FFFFFF"/>
          </a:solidFill>
          <a:ln w="2540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645920" cy="320040"/>
          </a:xfrm>
          <a:prstGeom prst="rect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🔑 user_id (PK)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username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password_hash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email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role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created_at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097280"/>
            <a:ext cx="1645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26080" y="1097280"/>
            <a:ext cx="1645920" cy="320040"/>
          </a:xfrm>
          <a:prstGeom prst="rect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1430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463040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🔑 </a:t>
            </a:r>
            <a:r>
              <a:rPr dirty="0" err="1"/>
              <a:t>student_id</a:t>
            </a:r>
            <a:r>
              <a:rPr dirty="0"/>
              <a:t> (PK)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🔗 </a:t>
            </a:r>
            <a:r>
              <a:rPr dirty="0" err="1"/>
              <a:t>user_id</a:t>
            </a:r>
            <a:r>
              <a:rPr dirty="0"/>
              <a:t> (FK)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 err="1"/>
              <a:t>full_name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 err="1"/>
              <a:t>roll_number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department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semester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097280"/>
            <a:ext cx="1463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03520" y="1097280"/>
            <a:ext cx="1463040" cy="320040"/>
          </a:xfrm>
          <a:prstGeom prst="rect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11430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Subject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146304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🔑 </a:t>
            </a:r>
            <a:r>
              <a:rPr dirty="0" err="1"/>
              <a:t>subject_id</a:t>
            </a:r>
            <a:r>
              <a:rPr dirty="0"/>
              <a:t> (PK)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 err="1"/>
              <a:t>subject_name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 err="1"/>
              <a:t>subject_code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credits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semester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926080"/>
            <a:ext cx="2011680" cy="1472498"/>
          </a:xfrm>
          <a:prstGeom prst="rect">
            <a:avLst/>
          </a:prstGeom>
          <a:solidFill>
            <a:srgbClr val="FFFFFF"/>
          </a:solidFill>
          <a:ln w="2540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71600" y="2926080"/>
            <a:ext cx="2011680" cy="320040"/>
          </a:xfrm>
          <a:prstGeom prst="rect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1600" y="2971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Academic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2918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🔑 record_id (PK)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🔗 student_id (FK)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🔗 subject_id (FK)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marks (DECIMAL)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attendance (%)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exam_date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926079"/>
            <a:ext cx="2194560" cy="1472499"/>
          </a:xfrm>
          <a:prstGeom prst="rect">
            <a:avLst/>
          </a:prstGeom>
          <a:solidFill>
            <a:srgbClr val="FFFFFF"/>
          </a:solidFill>
          <a:ln w="2540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2926080"/>
            <a:ext cx="2194560" cy="320040"/>
          </a:xfrm>
          <a:prstGeom prst="rect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297180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3291840"/>
            <a:ext cx="20116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🔑 recommendation_id (PK)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🔗 student_id (FK)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🔗 subject_id (FK)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suggestion_text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priority_level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generated_at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2926080"/>
            <a:ext cx="146304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32320" y="2926080"/>
            <a:ext cx="1463040" cy="320040"/>
          </a:xfrm>
          <a:prstGeom prst="rect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0" y="2971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Admin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59" y="32918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🔑 feedback_id (PK)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🔗 student_id (FK)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comments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created_at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0" y="1737360"/>
            <a:ext cx="73152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194559" y="15513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0D9488"/>
                </a:solidFill>
              </a:defRPr>
            </a:pPr>
            <a:r>
              <a:t>1:1</a:t>
            </a:r>
          </a:p>
        </p:txBody>
      </p:sp>
      <p:cxnSp>
        <p:nvCxnSpPr>
          <p:cNvPr id="31" name="Connector 30"/>
          <p:cNvCxnSpPr>
            <a:cxnSpLocks/>
          </p:cNvCxnSpPr>
          <p:nvPr/>
        </p:nvCxnSpPr>
        <p:spPr>
          <a:xfrm flipH="1">
            <a:off x="2286000" y="2468880"/>
            <a:ext cx="1005840" cy="45720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55369" y="253273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0D9488"/>
                </a:solidFill>
              </a:defRPr>
            </a:pPr>
            <a:r>
              <a:t>1:N</a:t>
            </a:r>
          </a:p>
        </p:txBody>
      </p:sp>
      <p:cxnSp>
        <p:nvCxnSpPr>
          <p:cNvPr id="33" name="Connector 32"/>
          <p:cNvCxnSpPr>
            <a:cxnSpLocks/>
          </p:cNvCxnSpPr>
          <p:nvPr/>
        </p:nvCxnSpPr>
        <p:spPr>
          <a:xfrm flipH="1">
            <a:off x="3383280" y="2331720"/>
            <a:ext cx="1920240" cy="59436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31697" y="2510657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0D9488"/>
                </a:solidFill>
              </a:defRPr>
            </a:pPr>
            <a:r>
              <a:rPr dirty="0"/>
              <a:t>N:M</a:t>
            </a:r>
          </a:p>
        </p:txBody>
      </p:sp>
      <p:cxnSp>
        <p:nvCxnSpPr>
          <p:cNvPr id="35" name="Connector 34"/>
          <p:cNvCxnSpPr>
            <a:cxnSpLocks/>
          </p:cNvCxnSpPr>
          <p:nvPr/>
        </p:nvCxnSpPr>
        <p:spPr>
          <a:xfrm>
            <a:off x="4572000" y="2217420"/>
            <a:ext cx="731520" cy="70866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32019" y="24688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0D9488"/>
                </a:solidFill>
              </a:defRPr>
            </a:pPr>
            <a:r>
              <a:rPr dirty="0"/>
              <a:t>1:N</a:t>
            </a:r>
          </a:p>
        </p:txBody>
      </p:sp>
      <p:cxnSp>
        <p:nvCxnSpPr>
          <p:cNvPr id="37" name="Connector 36"/>
          <p:cNvCxnSpPr>
            <a:cxnSpLocks/>
          </p:cNvCxnSpPr>
          <p:nvPr/>
        </p:nvCxnSpPr>
        <p:spPr>
          <a:xfrm>
            <a:off x="6446519" y="2331720"/>
            <a:ext cx="685801" cy="96012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20616" y="2656489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0D9488"/>
                </a:solidFill>
              </a:defRPr>
            </a:pPr>
            <a:r>
              <a:rPr dirty="0"/>
              <a:t>1:N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75E"/>
          </a:solidFill>
          <a:ln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Database Schema - Table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r>
              <a:t>User Table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t>user_id: INT PRIMARY KEY AUTO_INCREMENT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t>username: VARCHAR(50) UNIQUE NOT NULL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t>password_hash: VARCHAR(255) NOT NULL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t>email: VARCHAR(100) UNIQUE NOT NULL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t>role: ENUM('student', 'admin') NOT NULL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t>created_at: TIMESTAMP DEFAULT CURRENT_TIMESTAMP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r>
              <a:t>Academic Record Table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t>record_id: INT PRIMARY KEY AUTO_INCREMENT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t>student_id: INT NOT NULL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t>subject_id: INT NOT NULL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t>marks: DECIMAL(5,2) CHECK (marks &gt;= 0 AND marks &lt;= 100)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t>attendance: DECIMAL(5,2) CHECK (attendance &gt;= 0 AND attendance &lt;= 100)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t>exam_date: DATE NOT NULL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t>FOREIGN KEY (student_id) REFERENCES Student(student_id)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t>FOREIGN KEY (subject_id) REFERENCES Subject(subject_id)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t>INDEX idx_student (student_id)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t>INDEX idx_subject (subject_id)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r>
              <a:rPr dirty="0"/>
              <a:t>Recommendation Table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recommendation_id</a:t>
            </a:r>
            <a:r>
              <a:rPr dirty="0"/>
              <a:t>: INT PRIMARY KEY AUTO_INCREMENT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student_id</a:t>
            </a:r>
            <a:r>
              <a:rPr dirty="0"/>
              <a:t>: INT NOT NULL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subject_id</a:t>
            </a:r>
            <a:r>
              <a:rPr dirty="0"/>
              <a:t>: INT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suggestion_text</a:t>
            </a:r>
            <a:r>
              <a:rPr dirty="0"/>
              <a:t>: TEXT NOT NULL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priority_level</a:t>
            </a:r>
            <a:r>
              <a:rPr dirty="0"/>
              <a:t>: ENUM('low', 'medium', 'high', 'critical')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generated_at</a:t>
            </a:r>
            <a:r>
              <a:rPr dirty="0"/>
              <a:t>: TIMESTAMP DEFAULT CURRENT_TIMESTAMP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is_read</a:t>
            </a:r>
            <a:r>
              <a:rPr dirty="0"/>
              <a:t>: BOOLEAN DEFAULT FALSE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FOREIGN KEY (</a:t>
            </a:r>
            <a:r>
              <a:rPr dirty="0" err="1"/>
              <a:t>student_id</a:t>
            </a:r>
            <a:r>
              <a:rPr dirty="0"/>
              <a:t>) REFERENCES Student(</a:t>
            </a:r>
            <a:r>
              <a:rPr dirty="0" err="1"/>
              <a:t>student_id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FOREIGN KEY (</a:t>
            </a:r>
            <a:r>
              <a:rPr dirty="0" err="1"/>
              <a:t>subject_id</a:t>
            </a:r>
            <a:r>
              <a:rPr dirty="0"/>
              <a:t>) REFERENCES Subject(</a:t>
            </a:r>
            <a:r>
              <a:rPr dirty="0" err="1"/>
              <a:t>subject_id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INDEX </a:t>
            </a:r>
            <a:r>
              <a:rPr dirty="0" err="1"/>
              <a:t>idx_student_priority</a:t>
            </a:r>
            <a:r>
              <a:rPr dirty="0"/>
              <a:t> (</a:t>
            </a:r>
            <a:r>
              <a:rPr dirty="0" err="1"/>
              <a:t>student_id</a:t>
            </a:r>
            <a:r>
              <a:rPr dirty="0"/>
              <a:t>, </a:t>
            </a:r>
            <a:r>
              <a:rPr dirty="0" err="1"/>
              <a:t>priority_level</a:t>
            </a:r>
            <a:r>
              <a:rPr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651760"/>
            <a:ext cx="2877711" cy="14875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C275E"/>
                </a:solidFill>
              </a:defRPr>
            </a:pPr>
            <a:endParaRPr lang="en-IN" dirty="0"/>
          </a:p>
          <a:p>
            <a:pPr>
              <a:defRPr sz="1300" b="1">
                <a:solidFill>
                  <a:srgbClr val="1C275E"/>
                </a:solidFill>
              </a:defRPr>
            </a:pPr>
            <a:endParaRPr lang="en-IN" dirty="0"/>
          </a:p>
          <a:p>
            <a:pPr>
              <a:defRPr sz="1300" b="1">
                <a:solidFill>
                  <a:srgbClr val="1C275E"/>
                </a:solidFill>
              </a:defRPr>
            </a:pPr>
            <a:r>
              <a:rPr dirty="0"/>
              <a:t>Subject Table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subject_id</a:t>
            </a:r>
            <a:r>
              <a:rPr dirty="0"/>
              <a:t>: INT PRIMARY KEY AUTO_INCREMENT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subject_name</a:t>
            </a:r>
            <a:r>
              <a:rPr dirty="0"/>
              <a:t>: VARCHAR(100) NOT NULL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subject_code</a:t>
            </a:r>
            <a:r>
              <a:rPr dirty="0"/>
              <a:t>: VARCHAR(20) UNIQUE NOT NULL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credits: INT NOT NULL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semester: INT NOT NULL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21672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0D9488"/>
                </a:solidFill>
              </a:defRPr>
            </a:pP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75E"/>
          </a:solidFill>
          <a:ln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UI/UX Wireframes &amp; Design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75E"/>
                </a:solidFill>
              </a:defRPr>
            </a:pPr>
            <a:r>
              <a:t>Color Palette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731520" cy="457200"/>
          </a:xfrm>
          <a:prstGeom prst="rect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E293B"/>
                </a:solidFill>
              </a:defRPr>
            </a:pPr>
            <a:r>
              <a:t>Primary Blue</a:t>
            </a:r>
          </a:p>
          <a:p>
            <a:pPr algn="ctr">
              <a:defRPr sz="700">
                <a:solidFill>
                  <a:srgbClr val="1E293B"/>
                </a:solidFill>
              </a:defRPr>
            </a:pPr>
            <a:r>
              <a:t>#1C275E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19" y="1280160"/>
            <a:ext cx="731520" cy="457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19" y="1783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E293B"/>
                </a:solidFill>
              </a:defRPr>
            </a:pPr>
            <a:r>
              <a:t>Ice Blue</a:t>
            </a:r>
          </a:p>
          <a:p>
            <a:pPr algn="ctr">
              <a:defRPr sz="700">
                <a:solidFill>
                  <a:srgbClr val="1E293B"/>
                </a:solidFill>
              </a:defRPr>
            </a:pPr>
            <a:r>
              <a:t>#CADCFC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280160"/>
            <a:ext cx="7315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1783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E293B"/>
                </a:solidFill>
              </a:defRPr>
            </a:pPr>
            <a:r>
              <a:t>Teal Accent</a:t>
            </a:r>
          </a:p>
          <a:p>
            <a:pPr algn="ctr">
              <a:defRPr sz="700">
                <a:solidFill>
                  <a:srgbClr val="1E293B"/>
                </a:solidFill>
              </a:defRPr>
            </a:pPr>
            <a:r>
              <a:t>#0D9488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79" y="1280160"/>
            <a:ext cx="7315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79" y="1783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E293B"/>
                </a:solidFill>
              </a:defRPr>
            </a:pPr>
            <a:r>
              <a:t>Success Green</a:t>
            </a:r>
          </a:p>
          <a:p>
            <a:pPr algn="ctr">
              <a:defRPr sz="700">
                <a:solidFill>
                  <a:srgbClr val="1E293B"/>
                </a:solidFill>
              </a:defRPr>
            </a:pPr>
            <a:r>
              <a:t>#10B981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914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75E"/>
                </a:solidFill>
              </a:defRPr>
            </a:pPr>
            <a:r>
              <a:t>Key Wireframes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280160"/>
            <a:ext cx="4572000" cy="54864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13716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C275E"/>
                </a:solidFill>
              </a:rPr>
              <a:t>Login Page: </a:t>
            </a:r>
            <a:r>
              <a:rPr sz="1000">
                <a:solidFill>
                  <a:srgbClr val="1E293B"/>
                </a:solidFill>
              </a:rPr>
              <a:t>Centered form with logo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965960"/>
            <a:ext cx="4572000" cy="54864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20574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C275E"/>
                </a:solidFill>
              </a:rPr>
              <a:t>Student Dashboard: </a:t>
            </a:r>
            <a:r>
              <a:rPr sz="1000">
                <a:solidFill>
                  <a:srgbClr val="1E293B"/>
                </a:solidFill>
              </a:rPr>
              <a:t>Cards showing performance, recommendations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651760"/>
            <a:ext cx="4572000" cy="54864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27432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C275E"/>
                </a:solidFill>
              </a:rPr>
              <a:t>Recommendation View: </a:t>
            </a:r>
            <a:r>
              <a:rPr sz="1000">
                <a:solidFill>
                  <a:srgbClr val="1E293B"/>
                </a:solidFill>
              </a:rPr>
              <a:t>Detailed suggestions with priority levels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337560"/>
            <a:ext cx="4572000" cy="54864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0" y="34290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C275E"/>
                </a:solidFill>
              </a:rPr>
              <a:t>Admin Dashboard: </a:t>
            </a:r>
            <a:r>
              <a:rPr sz="1000">
                <a:solidFill>
                  <a:srgbClr val="1E293B"/>
                </a:solidFill>
              </a:rPr>
              <a:t>Table view of all students with filters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2860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C275E"/>
                </a:solidFill>
              </a:defRPr>
            </a:pPr>
            <a:r>
              <a:t>Design Principles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✓ Clean, minimal interface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✓ Responsive design (mobile-friendly)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✓ Accessibility compliant (WCAG 2.1)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✓ Consistent spacing and typography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✓ Visual hierarchy with color coding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✓ Interactive charts and progress bars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✓ Intuitive navigation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75E"/>
          </a:solidFill>
          <a:ln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Structure &amp; GitHub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5123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75E"/>
                </a:solidFill>
              </a:defRPr>
            </a:pPr>
            <a:r>
              <a:rPr dirty="0"/>
              <a:t>Repository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academic_recommendation</a:t>
            </a:r>
            <a:r>
              <a:rPr dirty="0"/>
              <a:t>/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├── manage.py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├── requirements.txt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├── .</a:t>
            </a:r>
            <a:r>
              <a:rPr dirty="0" err="1"/>
              <a:t>env.example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├── .</a:t>
            </a:r>
            <a:r>
              <a:rPr dirty="0" err="1"/>
              <a:t>gitignore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├── README.md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├── </a:t>
            </a:r>
            <a:r>
              <a:rPr dirty="0" err="1"/>
              <a:t>academic_recommendation</a:t>
            </a:r>
            <a:r>
              <a:rPr dirty="0"/>
              <a:t>/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├── __init__.py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├── settings.py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├── urls.py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└── wsgi.py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├── core/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├── models.py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├── views.py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├── serializers.py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└── utils/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    └── recommendation_engine.py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├── templates/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├── base.html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├── login.html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└── dashboard/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├── static/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├── </a:t>
            </a:r>
            <a:r>
              <a:rPr dirty="0" err="1"/>
              <a:t>css</a:t>
            </a:r>
            <a:r>
              <a:rPr dirty="0"/>
              <a:t>/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├── </a:t>
            </a:r>
            <a:r>
              <a:rPr dirty="0" err="1"/>
              <a:t>js</a:t>
            </a:r>
            <a:r>
              <a:rPr dirty="0"/>
              <a:t>/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│   └── images/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└── tests/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    └── test_recommendations.py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785123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75E"/>
                </a:solidFill>
              </a:defRPr>
            </a:pPr>
            <a:r>
              <a:rPr dirty="0"/>
              <a:t>Environment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51560"/>
            <a:ext cx="393192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.</a:t>
            </a:r>
            <a:r>
              <a:rPr dirty="0" err="1"/>
              <a:t>env.example</a:t>
            </a:r>
            <a:r>
              <a:rPr dirty="0"/>
              <a:t> file: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DEBUG=True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SECRET_KEY=your-secret-key-here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DATABASE_NAME=</a:t>
            </a:r>
            <a:r>
              <a:rPr dirty="0" err="1"/>
              <a:t>academic_db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DATABASE_USER=</a:t>
            </a:r>
            <a:r>
              <a:rPr dirty="0" err="1"/>
              <a:t>db_user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DATABASE_PASSWORD=</a:t>
            </a:r>
            <a:r>
              <a:rPr dirty="0" err="1"/>
              <a:t>db_password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DATABASE_HOST=localhost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DATABASE_PORT=3306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ALLOWED_HOSTS=localhost,127.0.0.1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requirements.txt includes: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Django==4.2.7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djangorestframework</a:t>
            </a:r>
            <a:r>
              <a:rPr dirty="0"/>
              <a:t>==3.14.0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mysqlclient</a:t>
            </a:r>
            <a:r>
              <a:rPr dirty="0"/>
              <a:t>==2.2.0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python-</a:t>
            </a:r>
            <a:r>
              <a:rPr dirty="0" err="1"/>
              <a:t>dotenv</a:t>
            </a:r>
            <a:r>
              <a:rPr dirty="0"/>
              <a:t>==1.0.0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django</a:t>
            </a:r>
            <a:r>
              <a:rPr dirty="0"/>
              <a:t>-</a:t>
            </a:r>
            <a:r>
              <a:rPr dirty="0" err="1"/>
              <a:t>cors</a:t>
            </a:r>
            <a:r>
              <a:rPr dirty="0"/>
              <a:t>-headers==4.3.0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734043"/>
            <a:ext cx="17116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C275E"/>
                </a:solidFill>
              </a:defRPr>
            </a:pPr>
            <a:r>
              <a:rPr dirty="0"/>
              <a:t>.</a:t>
            </a:r>
            <a:r>
              <a:rPr dirty="0" err="1"/>
              <a:t>gitignore</a:t>
            </a:r>
            <a:r>
              <a:rPr dirty="0"/>
              <a:t>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011042"/>
            <a:ext cx="3931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*.</a:t>
            </a:r>
            <a:r>
              <a:rPr dirty="0" err="1"/>
              <a:t>pyc</a:t>
            </a:r>
            <a:endParaRPr dirty="0"/>
          </a:p>
          <a:p>
            <a:pPr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__</a:t>
            </a:r>
            <a:r>
              <a:rPr dirty="0" err="1"/>
              <a:t>pycache</a:t>
            </a:r>
            <a:r>
              <a:rPr dirty="0"/>
              <a:t>__/</a:t>
            </a:r>
          </a:p>
          <a:p>
            <a:pPr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.env</a:t>
            </a:r>
          </a:p>
          <a:p>
            <a:pPr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db.sqlite3</a:t>
            </a:r>
          </a:p>
          <a:p>
            <a:pPr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 err="1"/>
              <a:t>venv</a:t>
            </a:r>
            <a:r>
              <a:rPr dirty="0"/>
              <a:t>/</a:t>
            </a:r>
          </a:p>
          <a:p>
            <a:pPr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*.log</a:t>
            </a:r>
          </a:p>
          <a:p>
            <a:pPr>
              <a:defRPr sz="900">
                <a:solidFill>
                  <a:srgbClr val="1E293B"/>
                </a:solidFill>
                <a:latin typeface="Consolas"/>
              </a:defRPr>
            </a:pPr>
            <a:r>
              <a:rPr dirty="0"/>
              <a:t>.</a:t>
            </a:r>
            <a:r>
              <a:rPr dirty="0" err="1"/>
              <a:t>DS_Store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75E"/>
          </a:solidFill>
          <a:ln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GitHub Workflow &amp;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2285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75E"/>
                </a:solidFill>
              </a:defRPr>
            </a:pPr>
            <a:r>
              <a:rPr dirty="0"/>
              <a:t>Git Branching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91440" cy="274320"/>
          </a:xfrm>
          <a:prstGeom prst="rect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C275E"/>
                </a:solidFill>
              </a:rPr>
              <a:t>main: </a:t>
            </a:r>
            <a:r>
              <a:rPr sz="1000">
                <a:solidFill>
                  <a:srgbClr val="1E293B"/>
                </a:solidFill>
              </a:rPr>
              <a:t>Production-ready code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45919"/>
            <a:ext cx="9144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4591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</a:rPr>
              <a:t>develop: </a:t>
            </a:r>
            <a:r>
              <a:rPr sz="1000">
                <a:solidFill>
                  <a:srgbClr val="1E293B"/>
                </a:solidFill>
              </a:rPr>
              <a:t>Integration branch for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11679"/>
            <a:ext cx="9144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B82F6"/>
                </a:solidFill>
              </a:rPr>
              <a:t>feature/*: </a:t>
            </a:r>
            <a:r>
              <a:rPr sz="1000">
                <a:solidFill>
                  <a:srgbClr val="1E293B"/>
                </a:solidFill>
              </a:rPr>
              <a:t>Individual feature development (e.g., feature/student-dashboard)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77439"/>
            <a:ext cx="9144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3774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F4444"/>
                </a:solidFill>
              </a:rPr>
              <a:t>bugfix/*: </a:t>
            </a:r>
            <a:r>
              <a:rPr sz="1000">
                <a:solidFill>
                  <a:srgbClr val="1E293B"/>
                </a:solidFill>
              </a:rPr>
              <a:t>Bug fixes (e.g., bugfix/login-error)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43199"/>
            <a:ext cx="9144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74319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C2626"/>
                </a:solidFill>
              </a:rPr>
              <a:t>hotfix/*: </a:t>
            </a:r>
            <a:r>
              <a:rPr sz="1000">
                <a:solidFill>
                  <a:srgbClr val="1E293B"/>
                </a:solidFill>
              </a:rPr>
              <a:t>Urgent production fixes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3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C275E"/>
                </a:solidFill>
              </a:defRPr>
            </a:pPr>
            <a:r>
              <a:rPr dirty="0"/>
              <a:t>Development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832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1. Create feature branch from develop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93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2. Commit changes with meaningful 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03904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3. Push to remote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14216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4. Create Pull Request to develop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245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5. Code review and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348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6. Merge to develop branch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451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7. Test on develop, then merge to 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763051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75E"/>
                </a:solidFill>
              </a:defRPr>
            </a:pPr>
            <a:r>
              <a:t>README.md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1051560"/>
            <a:ext cx="3657600" cy="3760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C275E"/>
                </a:solidFill>
              </a:defRPr>
            </a:pPr>
            <a:r>
              <a:rPr dirty="0"/>
              <a:t># Student Academic Recommendation System</a:t>
            </a:r>
            <a:endParaRPr lang="en-IN" dirty="0"/>
          </a:p>
          <a:p>
            <a:pPr>
              <a:spcAft>
                <a:spcPts val="200"/>
              </a:spcAft>
              <a:defRPr sz="1100" b="1">
                <a:solidFill>
                  <a:srgbClr val="1C275E"/>
                </a:solidFill>
              </a:defRPr>
            </a:pPr>
            <a:endParaRPr lang="en-IN" dirty="0"/>
          </a:p>
          <a:p>
            <a:pPr>
              <a:spcAft>
                <a:spcPts val="200"/>
              </a:spcAft>
              <a:defRPr sz="1100" b="1">
                <a:solidFill>
                  <a:srgbClr val="1C275E"/>
                </a:solidFill>
              </a:defRPr>
            </a:pPr>
            <a:r>
              <a:rPr dirty="0"/>
              <a:t>## Overview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Brief description of the project</a:t>
            </a:r>
          </a:p>
          <a:p>
            <a:pPr>
              <a:spcAft>
                <a:spcPts val="200"/>
              </a:spcAft>
              <a:defRPr sz="1100" b="1">
                <a:solidFill>
                  <a:srgbClr val="1C275E"/>
                </a:solidFill>
              </a:defRPr>
            </a:pPr>
            <a:r>
              <a:rPr dirty="0"/>
              <a:t>## Tech Stack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- Django 4.2.7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- MySQL 8.0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- Django REST Framework</a:t>
            </a:r>
          </a:p>
          <a:p>
            <a:pPr>
              <a:spcAft>
                <a:spcPts val="200"/>
              </a:spcAft>
              <a:defRPr sz="1100" b="1">
                <a:solidFill>
                  <a:srgbClr val="1C275E"/>
                </a:solidFill>
              </a:defRPr>
            </a:pPr>
            <a:r>
              <a:rPr dirty="0"/>
              <a:t>## Installation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1. Clone repository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2. Create virtual environment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3. Install dependencies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4. Configure .env file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5. Run migrations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6. Start development server</a:t>
            </a:r>
          </a:p>
          <a:p>
            <a:pPr>
              <a:spcAft>
                <a:spcPts val="200"/>
              </a:spcAft>
              <a:defRPr sz="1100" b="1">
                <a:solidFill>
                  <a:srgbClr val="1C275E"/>
                </a:solidFill>
              </a:defRPr>
            </a:pPr>
            <a:r>
              <a:rPr dirty="0"/>
              <a:t>## Usage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Instructions for running the app</a:t>
            </a:r>
          </a:p>
          <a:p>
            <a:pPr>
              <a:spcAft>
                <a:spcPts val="200"/>
              </a:spcAft>
              <a:defRPr sz="1100" b="1">
                <a:solidFill>
                  <a:srgbClr val="1C275E"/>
                </a:solidFill>
              </a:defRPr>
            </a:pPr>
            <a:r>
              <a:rPr dirty="0"/>
              <a:t>## Contributing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Branching strategy and PR guidelines</a:t>
            </a:r>
          </a:p>
          <a:p>
            <a:pPr>
              <a:spcAft>
                <a:spcPts val="200"/>
              </a:spcAft>
              <a:defRPr sz="1100" b="1">
                <a:solidFill>
                  <a:srgbClr val="1C275E"/>
                </a:solidFill>
              </a:defRPr>
            </a:pPr>
            <a:r>
              <a:rPr dirty="0"/>
              <a:t>## License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rPr dirty="0"/>
              <a:t>MIT License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75E"/>
          </a:solidFill>
          <a:ln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Recommendation Engine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The recommendation engine analyzes student performance using a hybrid rule-based and statistical approach. It identifies weak subjects, attendance patterns, and historical trends to generate personalized improvement suggestions.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75E"/>
                </a:solidFill>
              </a:defRPr>
            </a:pPr>
            <a:r>
              <a:t>Algorithm Components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9319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0848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275E"/>
                </a:solidFill>
              </a:rPr>
              <a:t>Performance Analysis: </a:t>
            </a:r>
            <a:r>
              <a:rPr sz="1000">
                <a:solidFill>
                  <a:srgbClr val="1E293B"/>
                </a:solidFill>
              </a:rPr>
              <a:t>Calculate average marks, identify subjects below threshold (&lt; 40%)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39319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275E"/>
                </a:solidFill>
              </a:rPr>
              <a:t>Attendance Correlation: </a:t>
            </a:r>
            <a:r>
              <a:rPr sz="1000">
                <a:solidFill>
                  <a:srgbClr val="1E293B"/>
                </a:solidFill>
              </a:rPr>
              <a:t>Analyze correlation between attendance and marks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39319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182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275E"/>
                </a:solidFill>
              </a:rPr>
              <a:t>Trend Detection: </a:t>
            </a:r>
            <a:r>
              <a:rPr sz="1000">
                <a:solidFill>
                  <a:srgbClr val="1E293B"/>
                </a:solidFill>
              </a:rPr>
              <a:t>Compare current vs previous semester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39319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730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275E"/>
                </a:solidFill>
              </a:rPr>
              <a:t>Priority Assignment: </a:t>
            </a:r>
            <a:r>
              <a:rPr sz="1000">
                <a:solidFill>
                  <a:srgbClr val="1E293B"/>
                </a:solidFill>
              </a:rPr>
              <a:t>Critical (&lt; 40%), High (40-60%), Medium (60-75%), Low (&gt; 75%)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06240"/>
            <a:ext cx="3931920" cy="502920"/>
          </a:xfrm>
          <a:prstGeom prst="rect">
            <a:avLst/>
          </a:prstGeom>
          <a:solidFill>
            <a:srgbClr val="F8FA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2793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275E"/>
                </a:solidFill>
              </a:rPr>
              <a:t>Suggestion Generation: </a:t>
            </a:r>
            <a:r>
              <a:rPr sz="1000">
                <a:solidFill>
                  <a:srgbClr val="1E293B"/>
                </a:solidFill>
              </a:rPr>
              <a:t>Tailored recommendations based on performance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46304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75E"/>
                </a:solidFill>
              </a:defRPr>
            </a:pPr>
            <a:r>
              <a:rPr dirty="0"/>
              <a:t>Example Recommendation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737360"/>
            <a:ext cx="3840480" cy="334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generate_recommendation</a:t>
            </a:r>
            <a:r>
              <a:rPr dirty="0"/>
              <a:t>(student, subject):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marks = </a:t>
            </a:r>
            <a:r>
              <a:rPr dirty="0" err="1"/>
              <a:t>get_latest_marks</a:t>
            </a:r>
            <a:r>
              <a:rPr dirty="0"/>
              <a:t>(student, subject)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attendance = </a:t>
            </a:r>
            <a:r>
              <a:rPr dirty="0" err="1"/>
              <a:t>get_attendance</a:t>
            </a:r>
            <a:r>
              <a:rPr dirty="0"/>
              <a:t>(student, subject)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if marks &lt; 40: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priority = 'critical'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if attendance &lt; 75: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suggestion = "Focus on attendance 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             and regular practice"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else: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suggestion = "Intensive study 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             sessions needed"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elif</a:t>
            </a:r>
            <a:r>
              <a:rPr dirty="0"/>
              <a:t> marks &lt; 60: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priority = 'high'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suggestion = "Review concepts, 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         solve practice problems"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else: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priority = 'medium'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suggestion = "Maintain performance, 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         attempt advanced topics"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return Recommendation(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student=student,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subject=subject,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suggestion=suggestion,</a:t>
            </a:r>
            <a:r>
              <a:rPr lang="en-IN" dirty="0"/>
              <a:t> </a:t>
            </a:r>
            <a:r>
              <a:rPr dirty="0"/>
              <a:t>priority=priority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Consolas"/>
              </a:defRPr>
            </a:pPr>
            <a:r>
              <a:rPr dirty="0"/>
              <a:t>    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75E"/>
          </a:solidFill>
          <a:ln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Complete System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005840"/>
            <a:ext cx="2743200" cy="411480"/>
          </a:xfrm>
          <a:prstGeom prst="rect">
            <a:avLst/>
          </a:prstGeom>
          <a:solidFill>
            <a:srgbClr val="CADCFC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17320" y="1051560"/>
            <a:ext cx="228600" cy="228600"/>
          </a:xfrm>
          <a:prstGeom prst="ellipse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1051560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05156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1C275E"/>
                </a:solidFill>
              </a:defRPr>
            </a:pPr>
            <a:r>
              <a:t>User Login (Student/Admin)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1417320"/>
            <a:ext cx="0" cy="27432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371600" y="1508760"/>
            <a:ext cx="2743200" cy="411480"/>
          </a:xfrm>
          <a:prstGeom prst="rect">
            <a:avLst/>
          </a:prstGeom>
          <a:solidFill>
            <a:srgbClr val="CADCFC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417320" y="1554480"/>
            <a:ext cx="228600" cy="228600"/>
          </a:xfrm>
          <a:prstGeom prst="ellipse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1554480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55448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1C275E"/>
                </a:solidFill>
              </a:defRPr>
            </a:pPr>
            <a:r>
              <a:t>Authentication &amp; Authorization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1920240"/>
            <a:ext cx="0" cy="27432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371600" y="2011680"/>
            <a:ext cx="2743200" cy="411480"/>
          </a:xfrm>
          <a:prstGeom prst="rect">
            <a:avLst/>
          </a:prstGeom>
          <a:solidFill>
            <a:srgbClr val="F0FDFA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417320" y="2057400"/>
            <a:ext cx="228600" cy="228600"/>
          </a:xfrm>
          <a:prstGeom prst="ellipse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20" y="2057400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05740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1C275E"/>
                </a:solidFill>
              </a:defRPr>
            </a:pPr>
            <a:r>
              <a:t>Student: View Dashboard</a:t>
            </a:r>
            <a:br/>
            <a:r>
              <a:t>Admin: Manage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2423160"/>
            <a:ext cx="0" cy="27432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71600" y="2514600"/>
            <a:ext cx="2743200" cy="411480"/>
          </a:xfrm>
          <a:prstGeom prst="rect">
            <a:avLst/>
          </a:prstGeom>
          <a:solidFill>
            <a:srgbClr val="F0FDFA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417320" y="2560320"/>
            <a:ext cx="228600" cy="228600"/>
          </a:xfrm>
          <a:prstGeom prst="ellipse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2560320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256032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1C275E"/>
                </a:solidFill>
              </a:defRPr>
            </a:pPr>
            <a:r>
              <a:t>Academic Data Input/Upload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43200" y="2926080"/>
            <a:ext cx="0" cy="27432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371600" y="3017520"/>
            <a:ext cx="2743200" cy="411480"/>
          </a:xfrm>
          <a:prstGeom prst="rect">
            <a:avLst/>
          </a:prstGeom>
          <a:solidFill>
            <a:srgbClr val="FEF9C3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417320" y="3063239"/>
            <a:ext cx="228600" cy="228600"/>
          </a:xfrm>
          <a:prstGeom prst="ellipse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17320" y="3063239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063239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1C275E"/>
                </a:solidFill>
              </a:defRPr>
            </a:pPr>
            <a:r>
              <a:t>Data Storage in MySQL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1005840"/>
            <a:ext cx="3200400" cy="411480"/>
          </a:xfrm>
          <a:prstGeom prst="rect">
            <a:avLst/>
          </a:prstGeom>
          <a:solidFill>
            <a:srgbClr val="D1FAE5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74920" y="1051560"/>
            <a:ext cx="228600" cy="228600"/>
          </a:xfrm>
          <a:prstGeom prst="ellipse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74920" y="1051560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1051560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1C275E"/>
                </a:solidFill>
              </a:defRPr>
            </a:pPr>
            <a:r>
              <a:t>Recommendation Engine Triggers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629400" y="1417320"/>
            <a:ext cx="0" cy="27432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029200" y="1691640"/>
            <a:ext cx="3200400" cy="411480"/>
          </a:xfrm>
          <a:prstGeom prst="rect">
            <a:avLst/>
          </a:prstGeom>
          <a:solidFill>
            <a:srgbClr val="D1FAE5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074920" y="1737360"/>
            <a:ext cx="228600" cy="228600"/>
          </a:xfrm>
          <a:prstGeom prst="ellipse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74920" y="1737360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1737360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1C275E"/>
                </a:solidFill>
              </a:defRPr>
            </a:pPr>
            <a:r>
              <a:t>Analyze Performance Patterns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629400" y="2103120"/>
            <a:ext cx="0" cy="274319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029200" y="2377440"/>
            <a:ext cx="3200400" cy="411480"/>
          </a:xfrm>
          <a:prstGeom prst="rect">
            <a:avLst/>
          </a:prstGeom>
          <a:solidFill>
            <a:srgbClr val="D1FAE5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074920" y="2423160"/>
            <a:ext cx="228600" cy="228600"/>
          </a:xfrm>
          <a:prstGeom prst="ellipse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4920" y="2423160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2423160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1C275E"/>
                </a:solidFill>
              </a:defRPr>
            </a:pPr>
            <a:r>
              <a:t>Generate Recommendations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629400" y="2788920"/>
            <a:ext cx="0" cy="274319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029200" y="3063240"/>
            <a:ext cx="3200400" cy="411480"/>
          </a:xfrm>
          <a:prstGeom prst="rect">
            <a:avLst/>
          </a:prstGeom>
          <a:solidFill>
            <a:srgbClr val="FEF9C3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074920" y="3108960"/>
            <a:ext cx="228600" cy="228600"/>
          </a:xfrm>
          <a:prstGeom prst="ellipse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74920" y="3108960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3108960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1C275E"/>
                </a:solidFill>
              </a:defRPr>
            </a:pPr>
            <a:r>
              <a:t>Store Recommendations in DB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743200" y="3429000"/>
            <a:ext cx="0" cy="27432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371600" y="3703320"/>
            <a:ext cx="2743200" cy="411480"/>
          </a:xfrm>
          <a:prstGeom prst="rect">
            <a:avLst/>
          </a:prstGeom>
          <a:solidFill>
            <a:srgbClr val="CADCFC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417320" y="3749039"/>
            <a:ext cx="228600" cy="228600"/>
          </a:xfrm>
          <a:prstGeom prst="ellipse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417320" y="3749039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91640" y="3749039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1C275E"/>
                </a:solidFill>
              </a:defRPr>
            </a:pPr>
            <a:r>
              <a:t>Display on Student Dashboard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743200" y="4114800"/>
            <a:ext cx="0" cy="27432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371600" y="4389120"/>
            <a:ext cx="2743200" cy="411480"/>
          </a:xfrm>
          <a:prstGeom prst="rect">
            <a:avLst/>
          </a:prstGeom>
          <a:solidFill>
            <a:srgbClr val="10B981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417320" y="4434840"/>
            <a:ext cx="228600" cy="228600"/>
          </a:xfrm>
          <a:prstGeom prst="ellipse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417320" y="4434840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44348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1C275E"/>
                </a:solidFill>
              </a:defRPr>
            </a:pPr>
            <a:r>
              <a:t>Student Acts on Recommendations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3703320"/>
            <a:ext cx="3200400" cy="411480"/>
          </a:xfrm>
          <a:prstGeom prst="rect">
            <a:avLst/>
          </a:prstGeom>
          <a:solidFill>
            <a:srgbClr val="CADCFC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5074920" y="3749039"/>
            <a:ext cx="228600" cy="228600"/>
          </a:xfrm>
          <a:prstGeom prst="ellipse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74920" y="3749039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9240" y="3749039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1C275E"/>
                </a:solidFill>
              </a:defRPr>
            </a:pPr>
            <a:r>
              <a:t>Admin Monitors Progress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629400" y="4114800"/>
            <a:ext cx="0" cy="27432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5029200" y="4389120"/>
            <a:ext cx="3200400" cy="411480"/>
          </a:xfrm>
          <a:prstGeom prst="rect">
            <a:avLst/>
          </a:prstGeom>
          <a:solidFill>
            <a:srgbClr val="10B981"/>
          </a:solidFill>
          <a:ln w="19050">
            <a:solidFill>
              <a:srgbClr val="1C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074920" y="4434840"/>
            <a:ext cx="228600" cy="228600"/>
          </a:xfrm>
          <a:prstGeom prst="ellipse">
            <a:avLst/>
          </a:prstGeom>
          <a:solidFill>
            <a:srgbClr val="1C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74920" y="4434840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49240" y="4434840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1C275E"/>
                </a:solidFill>
              </a:defRPr>
            </a:pPr>
            <a:r>
              <a:t>Admin Provides Additional Feedback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4114800" y="1216152"/>
            <a:ext cx="914400" cy="2029968"/>
          </a:xfrm>
          <a:prstGeom prst="line">
            <a:avLst/>
          </a:prstGeom>
          <a:ln w="19050">
            <a:solidFill>
              <a:srgbClr val="0D94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4114800" y="3273552"/>
            <a:ext cx="914400" cy="640080"/>
          </a:xfrm>
          <a:prstGeom prst="line">
            <a:avLst/>
          </a:prstGeom>
          <a:ln w="19050">
            <a:solidFill>
              <a:srgbClr val="0D948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7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Phase 1 Review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1717</Words>
  <Application>Microsoft Office PowerPoint</Application>
  <PresentationFormat>On-screen Show (16:9)</PresentationFormat>
  <Paragraphs>347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Merlin Babu</cp:lastModifiedBy>
  <cp:revision>3</cp:revision>
  <dcterms:created xsi:type="dcterms:W3CDTF">2013-01-27T09:14:16Z</dcterms:created>
  <dcterms:modified xsi:type="dcterms:W3CDTF">2026-02-11T10:48:45Z</dcterms:modified>
  <cp:category/>
</cp:coreProperties>
</file>